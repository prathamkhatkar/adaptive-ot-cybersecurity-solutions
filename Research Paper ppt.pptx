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 Khatkar" userId="9dbbe049e597a9df" providerId="LiveId" clId="{E3FBB356-F299-40CD-87BC-5218A16ABB17}"/>
    <pc:docChg chg="undo custSel modSld">
      <pc:chgData name="Pratham Khatkar" userId="9dbbe049e597a9df" providerId="LiveId" clId="{E3FBB356-F299-40CD-87BC-5218A16ABB17}" dt="2026-05-04T06:58:17.122" v="279" actId="20577"/>
      <pc:docMkLst>
        <pc:docMk/>
      </pc:docMkLst>
      <pc:sldChg chg="modSp mod">
        <pc:chgData name="Pratham Khatkar" userId="9dbbe049e597a9df" providerId="LiveId" clId="{E3FBB356-F299-40CD-87BC-5218A16ABB17}" dt="2026-05-04T06:58:17.122" v="279" actId="20577"/>
        <pc:sldMkLst>
          <pc:docMk/>
          <pc:sldMk cId="0" sldId="256"/>
        </pc:sldMkLst>
        <pc:spChg chg="mod">
          <ac:chgData name="Pratham Khatkar" userId="9dbbe049e597a9df" providerId="LiveId" clId="{E3FBB356-F299-40CD-87BC-5218A16ABB17}" dt="2026-05-04T06:11:44.681" v="145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1:53.463" v="147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2:00.827" v="149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2:06.673" v="151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2:13.353" v="154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58:17.122" v="279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2:54.748" v="205" actId="14100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11:31.780" v="144" actId="14100"/>
        <pc:sldMkLst>
          <pc:docMk/>
          <pc:sldMk cId="0" sldId="258"/>
        </pc:sldMkLst>
        <pc:spChg chg="mod">
          <ac:chgData name="Pratham Khatkar" userId="9dbbe049e597a9df" providerId="LiveId" clId="{E3FBB356-F299-40CD-87BC-5218A16ABB17}" dt="2026-05-04T06:11:31.780" v="144" actId="14100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11:06.254" v="136" actId="14100"/>
        <pc:sldMkLst>
          <pc:docMk/>
          <pc:sldMk cId="0" sldId="259"/>
        </pc:sldMkLst>
        <pc:spChg chg="mod">
          <ac:chgData name="Pratham Khatkar" userId="9dbbe049e597a9df" providerId="LiveId" clId="{E3FBB356-F299-40CD-87BC-5218A16ABB17}" dt="2026-05-04T06:10:58.706" v="134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1:02.189" v="135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11:06.254" v="136" actId="14100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10:48.389" v="133" actId="14100"/>
        <pc:sldMkLst>
          <pc:docMk/>
          <pc:sldMk cId="0" sldId="260"/>
        </pc:sldMkLst>
        <pc:spChg chg="mod">
          <ac:chgData name="Pratham Khatkar" userId="9dbbe049e597a9df" providerId="LiveId" clId="{E3FBB356-F299-40CD-87BC-5218A16ABB17}" dt="2026-05-04T06:10:48.389" v="133" actId="14100"/>
          <ac:spMkLst>
            <pc:docMk/>
            <pc:sldMk cId="0" sldId="260"/>
            <ac:spMk id="12" creationId="{00000000-0000-0000-0000-000000000000}"/>
          </ac:spMkLst>
        </pc:spChg>
        <pc:graphicFrameChg chg="modGraphic">
          <ac:chgData name="Pratham Khatkar" userId="9dbbe049e597a9df" providerId="LiveId" clId="{E3FBB356-F299-40CD-87BC-5218A16ABB17}" dt="2026-05-04T06:10:27.940" v="127" actId="14100"/>
          <ac:graphicFrameMkLst>
            <pc:docMk/>
            <pc:sldMk cId="0" sldId="260"/>
            <ac:graphicFrameMk id="11" creationId="{00000000-0000-0000-0000-000000000000}"/>
          </ac:graphicFrameMkLst>
        </pc:graphicFrameChg>
      </pc:sldChg>
      <pc:sldChg chg="modSp mod">
        <pc:chgData name="Pratham Khatkar" userId="9dbbe049e597a9df" providerId="LiveId" clId="{E3FBB356-F299-40CD-87BC-5218A16ABB17}" dt="2026-05-04T06:13:18.311" v="206" actId="20577"/>
        <pc:sldMkLst>
          <pc:docMk/>
          <pc:sldMk cId="0" sldId="261"/>
        </pc:sldMkLst>
        <pc:spChg chg="mod">
          <ac:chgData name="Pratham Khatkar" userId="9dbbe049e597a9df" providerId="LiveId" clId="{E3FBB356-F299-40CD-87BC-5218A16ABB17}" dt="2026-05-04T06:13:18.311" v="206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9:23.029" v="110" actId="14100"/>
        <pc:sldMkLst>
          <pc:docMk/>
          <pc:sldMk cId="0" sldId="262"/>
        </pc:sldMkLst>
        <pc:spChg chg="mod">
          <ac:chgData name="Pratham Khatkar" userId="9dbbe049e597a9df" providerId="LiveId" clId="{E3FBB356-F299-40CD-87BC-5218A16ABB17}" dt="2026-05-04T06:08:58.423" v="104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9:23.029" v="110" actId="14100"/>
          <ac:spMkLst>
            <pc:docMk/>
            <pc:sldMk cId="0" sldId="262"/>
            <ac:spMk id="9" creationId="{00000000-0000-0000-0000-000000000000}"/>
          </ac:spMkLst>
        </pc:spChg>
        <pc:graphicFrameChg chg="mod modGraphic">
          <ac:chgData name="Pratham Khatkar" userId="9dbbe049e597a9df" providerId="LiveId" clId="{E3FBB356-F299-40CD-87BC-5218A16ABB17}" dt="2026-05-04T06:09:07.831" v="107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Pratham Khatkar" userId="9dbbe049e597a9df" providerId="LiveId" clId="{E3FBB356-F299-40CD-87BC-5218A16ABB17}" dt="2026-05-04T06:08:42.388" v="100" actId="14100"/>
        <pc:sldMkLst>
          <pc:docMk/>
          <pc:sldMk cId="0" sldId="263"/>
        </pc:sldMkLst>
        <pc:spChg chg="mod">
          <ac:chgData name="Pratham Khatkar" userId="9dbbe049e597a9df" providerId="LiveId" clId="{E3FBB356-F299-40CD-87BC-5218A16ABB17}" dt="2026-05-04T06:08:42.388" v="100" actId="14100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8:14.060" v="90" actId="14100"/>
        <pc:sldMkLst>
          <pc:docMk/>
          <pc:sldMk cId="0" sldId="264"/>
        </pc:sldMkLst>
        <pc:spChg chg="mod">
          <ac:chgData name="Pratham Khatkar" userId="9dbbe049e597a9df" providerId="LiveId" clId="{E3FBB356-F299-40CD-87BC-5218A16ABB17}" dt="2026-05-04T06:08:14.060" v="90" actId="14100"/>
          <ac:spMkLst>
            <pc:docMk/>
            <pc:sldMk cId="0" sldId="264"/>
            <ac:spMk id="9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7:50.427" v="88" actId="14100"/>
        <pc:sldMkLst>
          <pc:docMk/>
          <pc:sldMk cId="0" sldId="265"/>
        </pc:sldMkLst>
        <pc:spChg chg="mod">
          <ac:chgData name="Pratham Khatkar" userId="9dbbe049e597a9df" providerId="LiveId" clId="{E3FBB356-F299-40CD-87BC-5218A16ABB17}" dt="2026-05-04T06:05:11.742" v="55" actId="14100"/>
          <ac:spMkLst>
            <pc:docMk/>
            <pc:sldMk cId="0" sldId="265"/>
            <ac:spMk id="9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5:34.360" v="60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5:54.010" v="64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5:46.931" v="62" actId="1410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00.071" v="66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14.400" v="68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24.265" v="70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29.863" v="72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38.497" v="74" actId="1410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48.359" v="76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6:58.280" v="79" actId="1410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7:13.716" v="82" actId="1410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7:38.750" v="86" actId="1410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7:50.427" v="88" actId="14100"/>
          <ac:spMkLst>
            <pc:docMk/>
            <pc:sldMk cId="0" sldId="265"/>
            <ac:spMk id="24" creationId="{00000000-0000-0000-0000-000000000000}"/>
          </ac:spMkLst>
        </pc:spChg>
        <pc:graphicFrameChg chg="mod">
          <ac:chgData name="Pratham Khatkar" userId="9dbbe049e597a9df" providerId="LiveId" clId="{E3FBB356-F299-40CD-87BC-5218A16ABB17}" dt="2026-05-04T06:05:00.195" v="53" actId="14100"/>
          <ac:graphicFrameMkLst>
            <pc:docMk/>
            <pc:sldMk cId="0" sldId="265"/>
            <ac:graphicFrameMk id="8" creationId="{00000000-0000-0000-0000-000000000000}"/>
          </ac:graphicFrameMkLst>
        </pc:graphicFrameChg>
        <pc:graphicFrameChg chg="mod">
          <ac:chgData name="Pratham Khatkar" userId="9dbbe049e597a9df" providerId="LiveId" clId="{E3FBB356-F299-40CD-87BC-5218A16ABB17}" dt="2026-05-04T06:05:22.798" v="58" actId="14100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Pratham Khatkar" userId="9dbbe049e597a9df" providerId="LiveId" clId="{E3FBB356-F299-40CD-87BC-5218A16ABB17}" dt="2026-05-04T06:04:18.494" v="46" actId="14100"/>
        <pc:sldMkLst>
          <pc:docMk/>
          <pc:sldMk cId="0" sldId="266"/>
        </pc:sldMkLst>
        <pc:spChg chg="mod">
          <ac:chgData name="Pratham Khatkar" userId="9dbbe049e597a9df" providerId="LiveId" clId="{E3FBB356-F299-40CD-87BC-5218A16ABB17}" dt="2026-05-04T06:04:18.494" v="46" actId="14100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3:01.954" v="31" actId="14100"/>
        <pc:sldMkLst>
          <pc:docMk/>
          <pc:sldMk cId="0" sldId="267"/>
        </pc:sldMkLst>
        <pc:spChg chg="mod">
          <ac:chgData name="Pratham Khatkar" userId="9dbbe049e597a9df" providerId="LiveId" clId="{E3FBB356-F299-40CD-87BC-5218A16ABB17}" dt="2026-05-04T06:03:01.954" v="31" actId="14100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2:31.341" v="20" actId="14100"/>
        <pc:sldMkLst>
          <pc:docMk/>
          <pc:sldMk cId="0" sldId="268"/>
        </pc:sldMkLst>
        <pc:spChg chg="mod">
          <ac:chgData name="Pratham Khatkar" userId="9dbbe049e597a9df" providerId="LiveId" clId="{E3FBB356-F299-40CD-87BC-5218A16ABB17}" dt="2026-05-04T06:02:31.341" v="20" actId="14100"/>
          <ac:spMkLst>
            <pc:docMk/>
            <pc:sldMk cId="0" sldId="268"/>
            <ac:spMk id="7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3:21.058" v="33" actId="14100"/>
        <pc:sldMkLst>
          <pc:docMk/>
          <pc:sldMk cId="0" sldId="269"/>
        </pc:sldMkLst>
        <pc:spChg chg="mod">
          <ac:chgData name="Pratham Khatkar" userId="9dbbe049e597a9df" providerId="LiveId" clId="{E3FBB356-F299-40CD-87BC-5218A16ABB17}" dt="2026-05-04T06:03:21.058" v="33" actId="14100"/>
          <ac:spMkLst>
            <pc:docMk/>
            <pc:sldMk cId="0" sldId="269"/>
            <ac:spMk id="7" creationId="{00000000-0000-0000-0000-000000000000}"/>
          </ac:spMkLst>
        </pc:spChg>
      </pc:sldChg>
      <pc:sldChg chg="modSp mod">
        <pc:chgData name="Pratham Khatkar" userId="9dbbe049e597a9df" providerId="LiveId" clId="{E3FBB356-F299-40CD-87BC-5218A16ABB17}" dt="2026-05-04T06:04:01.877" v="45" actId="14100"/>
        <pc:sldMkLst>
          <pc:docMk/>
          <pc:sldMk cId="0" sldId="270"/>
        </pc:sldMkLst>
        <pc:spChg chg="mod">
          <ac:chgData name="Pratham Khatkar" userId="9dbbe049e597a9df" providerId="LiveId" clId="{E3FBB356-F299-40CD-87BC-5218A16ABB17}" dt="2026-05-04T06:03:39.163" v="37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3:47.341" v="41" actId="14100"/>
          <ac:spMkLst>
            <pc:docMk/>
            <pc:sldMk cId="0" sldId="270"/>
            <ac:spMk id="7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3:53.634" v="43" actId="14100"/>
          <ac:spMkLst>
            <pc:docMk/>
            <pc:sldMk cId="0" sldId="270"/>
            <ac:spMk id="8" creationId="{00000000-0000-0000-0000-000000000000}"/>
          </ac:spMkLst>
        </pc:spChg>
        <pc:spChg chg="mod">
          <ac:chgData name="Pratham Khatkar" userId="9dbbe049e597a9df" providerId="LiveId" clId="{E3FBB356-F299-40CD-87BC-5218A16ABB17}" dt="2026-05-04T06:04:01.877" v="45" actId="14100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VPN+IDS Baseline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FDI</c:v>
                </c:pt>
                <c:pt idx="1">
                  <c:v>MitM</c:v>
                </c:pt>
                <c:pt idx="2">
                  <c:v>Replay</c:v>
                </c:pt>
                <c:pt idx="3">
                  <c:v>Cred. Spoofing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34</c:v>
                </c:pt>
                <c:pt idx="2">
                  <c:v>16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6-4C0D-9FDC-2F9C2D4706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AOCSF Framework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FDI</c:v>
                </c:pt>
                <c:pt idx="1">
                  <c:v>MitM</c:v>
                </c:pt>
                <c:pt idx="2">
                  <c:v>Replay</c:v>
                </c:pt>
                <c:pt idx="3">
                  <c:v>Cred. Spoofing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82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96-4C0D-9FDC-2F9C2D4706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VPN Baseline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</c:v>
                </c:pt>
                <c:pt idx="1">
                  <c:v>PC</c:v>
                </c:pt>
                <c:pt idx="2">
                  <c:v>SV</c:v>
                </c:pt>
                <c:pt idx="3">
                  <c:v>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41.9</c:v>
                </c:pt>
                <c:pt idx="1">
                  <c:v>38.200000000000003</c:v>
                </c:pt>
                <c:pt idx="2">
                  <c:v>34.5</c:v>
                </c:pt>
                <c:pt idx="3">
                  <c:v>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50-482B-8CA5-5B6883A61F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AOCSF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</c:v>
                </c:pt>
                <c:pt idx="1">
                  <c:v>PC</c:v>
                </c:pt>
                <c:pt idx="2">
                  <c:v>SV</c:v>
                </c:pt>
                <c:pt idx="3">
                  <c:v>TM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50-482B-8CA5-5B6883A61F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Pre-Training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ID Time(s÷10)</c:v>
                </c:pt>
                <c:pt idx="1">
                  <c:v>Accuracy(%)</c:v>
                </c:pt>
                <c:pt idx="2">
                  <c:v>Error(%)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31.4</c:v>
                </c:pt>
                <c:pt idx="1">
                  <c:v>69.3</c:v>
                </c:pt>
                <c:pt idx="2">
                  <c:v>15.9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E1-498B-9EB8-72E8E61BF5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Post-Training</c:v>
                </c:pt>
              </c:strCache>
            </c:strRef>
          </c:tx>
          <c:spPr>
            <a:solidFill>
              <a:srgbClr val="0066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ID Time(s÷10)</c:v>
                </c:pt>
                <c:pt idx="1">
                  <c:v>Accuracy(%)</c:v>
                </c:pt>
                <c:pt idx="2">
                  <c:v>Error(%)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90.5</c:v>
                </c:pt>
                <c:pt idx="2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E1-498B-9EB8-72E8E61BF5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05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783080"/>
            <a:ext cx="8412480" cy="1141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OT Cybersecurity Solutions: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Integrated Zero-Trust, Digital-Twin,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Human-Centric Framework for Resilient 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30156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Pratham Khatkar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343631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2210991674  |  B.E. Computer Science and Engineering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8514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65760" y="4144060"/>
            <a:ext cx="8412480" cy="473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Gurpreet Singh (</a:t>
            </a:r>
            <a:r>
              <a:rPr lang="en-US" sz="15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4617720"/>
            <a:ext cx="8412480" cy="473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Introduction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The AOCSF Framework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Pillar I: Zero-Trust Enforcement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Pillar II: Digital Twin Simulations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Pillar III: Human-Centric Training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Experimental Setup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Attack Detection Results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Latency &amp; Operator Training Results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Ablation Analysis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Standards Compliance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Limitations &amp; Future Work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Conclusion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033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Industry 4.0 dissolved the air-gap — IIoT, cloud &amp; remote access exposed ICS to cyber threats
•  Legacy PLCs/RTUs have no authentication and cannot be patched
•  Perimeter-only defenses cannot detect physically dangerous but syntactically valid commands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Incidents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Ukraine 2015 — SCADA attack cut power to 230,000 customers
•  Oldsmar 2021 — Water plant chemical manipulation attempt
•  Industroyer2 2022 — ICS protocol malware vs Ukrainian substations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Traditional Defenses Fail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IT prioritises Confidentiality — OT prioritises Availability and Physical Safety
•  Microsecond control loop timing — VPN latency is operationally unacceptable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AOCSF Framework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65760" y="11155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pillars — each covers the blind spots of the others: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2743200" cy="3662172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74320" y="1481328"/>
            <a:ext cx="274320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1481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Zero-Trust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Enforcement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4048" y="2670048"/>
            <a:ext cx="252374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ABAC trust score formula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Risk-stratified tiers (SC/PC/SV/TM)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Edge-resident enforcement points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PASG for legacy devices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1481328"/>
            <a:ext cx="2743200" cy="3662172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154680" y="1481328"/>
            <a:ext cx="2743200" cy="475488"/>
          </a:xfrm>
          <a:prstGeom prst="rect">
            <a:avLst/>
          </a:prstGeom>
          <a:solidFill>
            <a:srgbClr val="AA0000"/>
          </a:solidFill>
          <a:ln w="12700">
            <a:solidFill>
              <a:srgbClr val="A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154680" y="1481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4612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Twin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64408" y="2670048"/>
            <a:ext cx="252374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Physics-aware command detection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DRL Red/Blue co-evolution (200 eps)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Sandboxed attack discovery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Operator training sandbox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1481328"/>
            <a:ext cx="2743200" cy="3662172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035040" y="1481328"/>
            <a:ext cx="2743200" cy="475488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035040" y="14813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26480" y="2011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Human-Centric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44768" y="2670048"/>
            <a:ext cx="2523744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Behavioral fingerprinting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Mahalanobis anomaly detection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6 DT scenario drill types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After-action review system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I: Zero-Trust Enforcement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63678" y="1115568"/>
            <a:ext cx="883859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1152144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 Score:  </a:t>
            </a: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 =  w₁·Id(e)  +  w₂·Ps(t)  +  w₃·Bh(e,t)  +  w₄·Rc(r)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" y="1792224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Id(e) = Identity 35%  |  Ps(t) = Process State 25%  |  Bh(e,t) = Behaviour 25%  |  Rc(r) = Resource 15%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3678" y="2139696"/>
            <a:ext cx="88385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Risk-Stratified Verification Tiers: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18356"/>
              </p:ext>
            </p:extLst>
          </p:nvPr>
        </p:nvGraphicFramePr>
        <p:xfrm>
          <a:off x="163678" y="2468880"/>
          <a:ext cx="8838591" cy="1447800"/>
        </p:xfrm>
        <a:graphic>
          <a:graphicData uri="http://schemas.openxmlformats.org/drawingml/2006/table">
            <a:tbl>
              <a:tblPr/>
              <a:tblGrid>
                <a:gridCol w="2946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Tier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Verification Frequency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AOCSF Latency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 — Safety Critical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transmission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PC — Process Control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250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 — Supervisory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2 seconds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4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TM — Telemetry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30 seconds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1.5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63678" y="4160520"/>
            <a:ext cx="8838590" cy="967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Points
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Auth on edge-resident nodes — eliminates central server round-trip latency
•  Legacy devices: Protocol-Aware Security Gateways — no firmware changes needed
•  Result: 36.5 ms → 4.6 ms  (87.3% reduction, Cohen's d=7.01, p&lt;0.001)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II: Digital Twin Simulations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63678" y="1115568"/>
            <a:ext cx="8838590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115214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IDS asks: </a:t>
            </a:r>
            <a:r>
              <a:rPr lang="en-US" sz="1300" b="1" dirty="0">
                <a:solidFill>
                  <a:srgbClr val="88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"Does command look suspicious?"   </a:t>
            </a: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AOCSF asks: </a:t>
            </a: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"Will command make reactor unsafe?"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3678" y="1691640"/>
            <a:ext cx="8838590" cy="3451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Physics-Aware Anomaly Detection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Every command simulated over look-ahead window L=10 steps
•  Alert fires if predicted trajectory exits safe operating bounds — regardless of protocol conformance
•  Catches FDI attacks completely invisible to network-layer IDS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DRL Red-Blue Co-evolution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Red Agent autonomously discovers multi-step attack chains in sandboxed DT (Q-learning α=0.1, γ=0.95)
•  Blue Agent hardens detection from each discovery — 200 episodes, fully automated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Operator Training Sandbox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6 scenario types: FDI, MitM, Replay, Ransomware, Credential Spoofing, APT</a:t>
            </a: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• 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HMI connected to process replica — realistic without risking live equipment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Pillar III: Human-Centric Training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1998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Fingerprinting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5 features: keystroke timing, command n-grams, navigation patterns, action-context, shift timing
•  Baseline: 10 shifts  |  Alert threshold: Mahalanobis distance &gt; θ = 3.0 SD
•  Detects credential spoofing even with a valid stolen password
</a:t>
            </a: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Results  (n=15 operators, 18 drills over 3 weeks, paired t-test)
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481584"/>
              </p:ext>
            </p:extLst>
          </p:nvPr>
        </p:nvGraphicFramePr>
        <p:xfrm>
          <a:off x="163678" y="2878372"/>
          <a:ext cx="8838592" cy="1774096"/>
        </p:xfrm>
        <a:graphic>
          <a:graphicData uri="http://schemas.openxmlformats.org/drawingml/2006/table">
            <a:tbl>
              <a:tblPr/>
              <a:tblGrid>
                <a:gridCol w="2209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Improvement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Incident ID Time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314 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150 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52% faster  (d=4.59, p&lt;0.001)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Accuracy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69.3%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90.5%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+21 pp  (p&lt;0.001)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Stress Error Rate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15.9%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4.4%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72% lower  (d=5.42, p&lt;0.001)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63678" y="4738977"/>
            <a:ext cx="8838590" cy="404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Cohen's d &gt; 4.0 — large, practically significant effects confirmed.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033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Testbed: Tennessee Eastman Process (TEP)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Standard ICS benchmark — Downs &amp; Vogel (1993)
•  41 measured variables, 12 manipulated variables, 20 disturbances
•  Python, seed=42 (fully reproducible)  |  Cross-validated on SWaT dataset (36 attacks)
•  Baseline: VPN perimeter + standalone signature-based IDS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Controlled Experiments
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Exp 1 — Attack Detection:      n=50 trials per attack type (4 attack vectors)
•  Exp 2 — Latency Benchmark:   n=1,000 auth samples across 4 risk tiers
•  Exp 3 — Human Factor:           n=15 operators, pre/post training, paired t-test
•  Exp 4 — DRL Co-evolution:     200 episodes, Red vs Blue agent learning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Statistics: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α=0.05  |  95% Wilson confidence intervals  |  Cohen's d effect sizes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Results: Attack Detection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163678" y="1115568"/>
          <a:ext cx="5120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15568"/>
          <a:ext cx="3515868" cy="2112264"/>
        </p:xfrm>
        <a:graphic>
          <a:graphicData uri="http://schemas.openxmlformats.org/drawingml/2006/table">
            <a:tbl>
              <a:tblPr/>
              <a:tblGrid>
                <a:gridCol w="1171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Attack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AOCSF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False Data Injection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Man-in-the-Middle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Replay Attacks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Credential Spoofing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486400" y="3227832"/>
            <a:ext cx="3515868" cy="1915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FDI attacks send syntactically valid commands — completely invisible to network IDS. Only the physics-aware Digital Twin detects them by simulating physical consequences.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SWaT cross-validation: 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89.3% detection vs 71.2% IDS baseline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Results: Latency &amp; Operator Training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5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Latency by Risk Tier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405555381"/>
              </p:ext>
            </p:extLst>
          </p:nvPr>
        </p:nvGraphicFramePr>
        <p:xfrm>
          <a:off x="163678" y="1389889"/>
          <a:ext cx="3963049" cy="2254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163678" y="355280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87.3% reduction: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36.5ms → 4.6ms  (d=7.01, p&lt;0.001)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704588" y="11155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Operator Performance Pre vs Post Training</a:t>
            </a:r>
            <a:endParaRPr lang="en-US" sz="12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2411175028"/>
              </p:ext>
            </p:extLst>
          </p:nvPr>
        </p:nvGraphicFramePr>
        <p:xfrm>
          <a:off x="4704588" y="1389888"/>
          <a:ext cx="4297680" cy="2004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7"/>
          <p:cNvSpPr/>
          <p:nvPr/>
        </p:nvSpPr>
        <p:spPr>
          <a:xfrm>
            <a:off x="4704588" y="339425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52% faster ID  |  +21pp accuracy  |  72% fewer errors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n=15 operators  |  All p&lt;0.001  |  Cohen's d &gt; 4.0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163678" y="3992272"/>
            <a:ext cx="2075688" cy="1025397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9"/>
          <p:cNvSpPr/>
          <p:nvPr/>
        </p:nvSpPr>
        <p:spPr>
          <a:xfrm>
            <a:off x="163678" y="4334256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96%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3678" y="4681728"/>
            <a:ext cx="2075688" cy="3359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FDI Detected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44522" y="3992272"/>
            <a:ext cx="2075688" cy="102539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2344522" y="4147718"/>
            <a:ext cx="2075688" cy="5340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87%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344522" y="4681728"/>
            <a:ext cx="2075688" cy="308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Latency Cut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25366" y="3986783"/>
            <a:ext cx="2075688" cy="1030887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4525366" y="4085540"/>
            <a:ext cx="2075688" cy="5961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52%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525366" y="4681728"/>
            <a:ext cx="2075688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Faster ID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06210" y="3992272"/>
            <a:ext cx="2075688" cy="1025397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706210" y="4186121"/>
            <a:ext cx="2075688" cy="4956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72%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706210" y="4681728"/>
            <a:ext cx="2075688" cy="347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Errors Down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Analysis: Why All 3 Pillars Are Needed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5568"/>
            <a:ext cx="88385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any one pillar — comprehensive coverage collapses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3678" y="1463040"/>
          <a:ext cx="8838590" cy="28346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7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Attack Type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ZT Only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DT Only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HC Only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3 Together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False Data Injection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 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96%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 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96%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Man-in-the-Middle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72%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955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 45%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955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 32%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82%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Replay Attacks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100%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955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 40%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955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 20%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100%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Credential Spoofing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955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 28%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 12%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84%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66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 100%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63678" y="4407408"/>
            <a:ext cx="883859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ZT has no physics model → misses FDI.  DT alone misses credential spoofing.  HC alone misses FDI.  Only the integrated three-pillar design achieves comprehensive coverage across all attack vectors.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Standards Compliance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033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IEC 62443 — Security Levels 2 and 3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FR 1 (Identity &amp; Authentication) — ABAC continuous verification at SL-2/3
•  FR 2 (Use Control) — Least-privilege, trust-score gating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FR 3 (System Integrity) — DT physics-aware anomaly detection at SL-3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FR 6 (Incident Response) — Behavioral telemetry as automatic compliance evidence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NIST SP 800-82 Rev.3  +  SP 800-207
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SP 800-82: Continuous monitoring, defense-in-depth for OT environments
•  SP 800-207: All 5 ZTA design principles, adapted for OT latency constraints
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Advantage: 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 evidence generated automatically — telemetry logs, access records &amp; DT anomaly reports satisfy IEC 62443 documentation needs with zero separate overhead.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033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
</a:t>
            </a: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Simulation only — TEP &amp; SWaT benchmarks, not live industrial plants
2.  n=15 operators — adequate for large effects, not full generalizability
3.  Edge hardware: min 4-core CPU, 8 GB RAM required
4.  Behavioral monitoring needs workforce privacy governance policy
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Directions
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Live pilot deployment via Rockwell Automation partnership
2.  Automated digital twin generation tooling
3.  Privacy-preserving federated behavioral telemetry
4.  Formal IEC 62443 SL-2/3 certification
5.  Multi-plant distributed DRL attack scenarios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0"/>
            <a:ext cx="6019495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63678" y="1110082"/>
            <a:ext cx="8838590" cy="4033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96% FDI detection — structurally invisible to network IDS, caught by physics-aware DT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87.3% latency reduction: 36.5ms → 4.6ms  (Cohen's d=7.01, p&lt;0.001)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52% faster incident ID: 314s → 150s  (d=4.59, p&lt;0.001)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Ablation confirms: all 3 pillars necessary — no single pillar achieves full coverage
</a:t>
            </a:r>
            <a:r>
              <a:rPr lang="en-US" sz="145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
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 security at the IT/OT boundary requires simultaneous treatment of access control, physics-aware detection, and human factors. The integrated design produces synergies no single-pillar system can replicate.
</a:t>
            </a:r>
            <a:endParaRPr lang="en-US" sz="1450" dirty="0"/>
          </a:p>
          <a:p>
            <a:pPr marL="0" indent="0">
              <a:buNone/>
            </a:pPr>
            <a:r>
              <a:rPr lang="en-US" sz="145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simulation results are a starting point.  </a:t>
            </a:r>
            <a:r>
              <a:rPr lang="en-US" sz="1450" b="1" i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framework needs next is to be tested somewhere that has real stakes.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37590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146597" y="0"/>
            <a:ext cx="2997403" cy="8375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902" y="190195"/>
            <a:ext cx="2075688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4381"/>
            <a:ext cx="9144000" cy="269748"/>
          </a:xfrm>
          <a:prstGeom prst="rect">
            <a:avLst/>
          </a:prstGeom>
          <a:solidFill>
            <a:srgbClr val="FF3300"/>
          </a:solidFill>
          <a:ln w="12700">
            <a:solidFill>
              <a:srgbClr val="FF3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297534" y="2055572"/>
            <a:ext cx="6705295" cy="1389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1"/>
            <a:ext cx="6400800" cy="385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4206240"/>
            <a:ext cx="6400800" cy="270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Pratham Khatkar  |  pratham674.be22@chitkara.edu.in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4476902"/>
            <a:ext cx="6400800" cy="66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 Chitkara University, Punjab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53505" y="6356909"/>
            <a:ext cx="2133295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1658</Words>
  <Application>Microsoft Office PowerPoint</Application>
  <PresentationFormat>On-screen Show (16:9)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Pratham Khatkar</cp:lastModifiedBy>
  <cp:revision>1</cp:revision>
  <dcterms:created xsi:type="dcterms:W3CDTF">2026-05-04T05:52:15Z</dcterms:created>
  <dcterms:modified xsi:type="dcterms:W3CDTF">2026-05-04T06:58:19Z</dcterms:modified>
</cp:coreProperties>
</file>